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42" d="100"/>
          <a:sy n="142" d="100"/>
        </p:scale>
        <p:origin x="84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91D20D-C4E2-4D60-A335-1BEC39CE9D3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3EA1DC-C819-4131-BAF6-299AB9AFB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540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EA1DC-C819-4131-BAF6-299AB9AFB4E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0086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BD498-7486-A67D-42AD-44CF3A55A2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F1BC53-2F51-86B6-5B8D-6F687101F5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CB0F6-8EE5-A929-1355-CDB62C599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AA0D-FEED-4950-B1C4-DEC1AD7E6420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91CE4A-ED06-7C29-167E-10604750A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B40C45-FCBF-5E3E-82E0-E086B0D04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1E8B-12E5-43F5-AF38-ED445761A6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825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3141B-6849-4D53-827A-120EA26E5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FF4220-4596-3BD3-38B5-60D93FF891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81F1EB-9CD3-C9F1-C433-1079B3FCE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AA0D-FEED-4950-B1C4-DEC1AD7E6420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D5579D-A741-D204-8929-985F2BD3C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6374CF-B4AD-FBF0-7204-8BBE4D03F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1E8B-12E5-43F5-AF38-ED445761A6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409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91249-4CAA-8E57-8D88-DEB6E275E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A8AFAC-889C-9E81-798B-B2EB6B8879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0174A-7C0C-055D-A9C6-6D16061B8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AA0D-FEED-4950-B1C4-DEC1AD7E6420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B519E8-12CD-4869-34A8-1A84F3466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6DAAC7-D0A8-8CD0-AA84-970308F20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1E8B-12E5-43F5-AF38-ED445761A6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538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36CDD-FEA9-7BA4-82C9-EFDB8C1D2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312EF-E1D6-00CD-BE4F-CE0DCAEC2F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A38EE3-60EE-CF90-97E3-14C2E15DA0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DF35E-57D1-31C8-928C-C55DA2C22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AA0D-FEED-4950-B1C4-DEC1AD7E6420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0F3E78-7968-CE92-FFDF-920AFE02E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0B174E-9BFC-214C-A753-346549B16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1E8B-12E5-43F5-AF38-ED445761A6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162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FF800-BD3F-ECCD-9AE0-4404BDA46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810DE8-11CD-8130-C0E5-E3B8523A2E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49D6B4-650D-FF8A-4F77-A922D2F7B8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EA73C1-0859-2708-C6D0-1CF9A2F841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F53F3F-A65C-6B17-0727-325F82172D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69A3D9-2B30-A666-BD3E-1D788A6B3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AA0D-FEED-4950-B1C4-DEC1AD7E6420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E64256-C2DF-F752-E9F0-FE0036D46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7A41FB-EB7A-AE9C-4DAD-6639D169E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1E8B-12E5-43F5-AF38-ED445761A6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479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C2BCF-AEA2-50A7-9994-DD6E73D3E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CE5A74-8B17-336F-C060-D34097970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AA0D-FEED-4950-B1C4-DEC1AD7E6420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6709AD-D9E9-DAF6-6434-05285CB80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F18ACC-5193-EAB0-A232-8C2F2BB9D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1E8B-12E5-43F5-AF38-ED445761A6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39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E71868-E181-9237-7295-5B5B6E868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AA0D-FEED-4950-B1C4-DEC1AD7E6420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3BF059-3709-7244-081C-FFAA72A9D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972BB4-BA32-62FA-B7DE-A4E74E8C2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1E8B-12E5-43F5-AF38-ED445761A6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801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1D300-4E38-8D6D-15D1-E5659B0B0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02B2B-3F93-13BE-3D7F-1ACB2EFE4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802F54-70F6-17EE-9EC2-7F36AE9EBD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547CC2-36DD-CF4C-EA2D-E93571DA3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AA0D-FEED-4950-B1C4-DEC1AD7E6420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DB848C-2F0C-5597-EAB5-A564FF81A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DB1797-7E9E-059C-5586-62871E4C5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1E8B-12E5-43F5-AF38-ED445761A6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758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B4146-ADDE-3EAE-2AA5-82BDD22F9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0A56D4-1628-6DDC-2692-499CE0930C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223FBC-D39F-2FEA-967F-709F01E3A2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041E1D-E35C-423C-B9E1-A1F4DE1B4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AA0D-FEED-4950-B1C4-DEC1AD7E6420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667122-3BA6-A9C5-80AD-67F7E8D43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25F813-8AA2-B9A2-F97B-F96697739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1E8B-12E5-43F5-AF38-ED445761A6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93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501D9-13C6-7BF9-2949-B9C77B26C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3F3D9F-82E2-2117-DB98-307A9A6374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BEAD1B-1672-75C1-CDB3-C9D5E8ABB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AA0D-FEED-4950-B1C4-DEC1AD7E6420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705B09-807D-75DB-815B-CB0DE8D39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B70811-3D86-377F-11E2-332200325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1E8B-12E5-43F5-AF38-ED445761A6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922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D12DF7-C359-2C05-D5BA-1ABFAE6F02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2B5260-B7FE-F79A-6B5E-BCFBA830CC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808887-2D11-3558-8C32-6E045ED27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AA0D-FEED-4950-B1C4-DEC1AD7E6420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018929-1C34-216C-EDA8-18BDACE8B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2F8B7A-190E-7CBC-1660-527681AC3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1E8B-12E5-43F5-AF38-ED445761A6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927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906C08-3E40-C979-3C13-14C6A65BE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D844B0-B2AE-A6F0-42F4-B329D17B83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77D92-DB9C-B1B7-CE7F-A34F99192B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0FAA0D-FEED-4950-B1C4-DEC1AD7E6420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B8DA90-A601-9043-FAF1-20A90E506C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444BA-CD62-99FC-4FE5-9BF6EBCFD1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F71E8B-12E5-43F5-AF38-ED445761A6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735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ntrs.nasa.gov/api/citations/20170001580/downloads/20170001580.pdf" TargetMode="External"/><Relationship Id="rId2" Type="http://schemas.openxmlformats.org/officeDocument/2006/relationships/hyperlink" Target="https://sourceforge.net/projects/gmat/" TargetMode="Externa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ntrs.nasa.gov/citations/20170001580" TargetMode="Externa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orbital-mechanics.space/orbital-maneuvers/phasing-maneuvers.html" TargetMode="Externa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794B9-194F-D380-C1C8-B0FF03EAD5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 Brief Intro To GMAT: </a:t>
            </a:r>
            <a:r>
              <a:rPr lang="en-US" sz="4800" dirty="0"/>
              <a:t>Impulsive and Finite Burn Planning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01951C-03FA-C147-2CF7-D168DFB4B8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7445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6F9D2-CC50-C804-86B4-BA3C35AD7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GMAT At a Glance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F661A2-35F9-CF92-80EC-B8700CBE868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Link: </a:t>
            </a:r>
            <a:r>
              <a:rPr lang="en-US" sz="2000" dirty="0">
                <a:hlinkClick r:id="rId2"/>
              </a:rPr>
              <a:t>https://sourceforge.net/projects/gmat/</a:t>
            </a:r>
            <a:r>
              <a:rPr lang="en-US" sz="2000" dirty="0"/>
              <a:t> </a:t>
            </a:r>
          </a:p>
          <a:p>
            <a:r>
              <a:rPr lang="en-US" sz="2000" dirty="0"/>
              <a:t>Open-source space mission design and simulation software</a:t>
            </a:r>
          </a:p>
          <a:p>
            <a:r>
              <a:rPr lang="en-US" sz="2000" dirty="0"/>
              <a:t>Written / maintained by NASA GSFC</a:t>
            </a:r>
          </a:p>
          <a:p>
            <a:r>
              <a:rPr lang="en-US" sz="2000" dirty="0"/>
              <a:t>Used to support </a:t>
            </a:r>
            <a:r>
              <a:rPr lang="en-US" sz="2000" dirty="0">
                <a:hlinkClick r:id="rId3"/>
              </a:rPr>
              <a:t>TESS mission design CDR</a:t>
            </a:r>
            <a:endParaRPr lang="en-US" sz="2000" dirty="0"/>
          </a:p>
          <a:p>
            <a:r>
              <a:rPr lang="en-US" sz="2000" dirty="0"/>
              <a:t>Under development since 2002 (design started), released 2013</a:t>
            </a:r>
          </a:p>
          <a:p>
            <a:r>
              <a:rPr lang="en-US" sz="2000" dirty="0"/>
              <a:t>Similar (but not identical) capabilities for space mission design as other industry-standard tools e.g. </a:t>
            </a:r>
            <a:r>
              <a:rPr lang="en-US" sz="2000" dirty="0" err="1"/>
              <a:t>Freeflyer</a:t>
            </a:r>
            <a:r>
              <a:rPr lang="en-US" sz="2000" dirty="0"/>
              <a:t>, STK, etc.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0483E63-9F30-E2C9-5801-F172DCF1AD9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172202" y="1825625"/>
            <a:ext cx="5181600" cy="38740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4C47ACB-0F9D-0FDD-C859-AD5D647F9B61}"/>
              </a:ext>
            </a:extLst>
          </p:cNvPr>
          <p:cNvSpPr txBox="1"/>
          <p:nvPr/>
        </p:nvSpPr>
        <p:spPr>
          <a:xfrm>
            <a:off x="6172200" y="5640636"/>
            <a:ext cx="518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Image source: </a:t>
            </a:r>
            <a:r>
              <a:rPr lang="en-US" u="sng" dirty="0">
                <a:hlinkClick r:id="rId5"/>
              </a:rPr>
              <a:t>Using the General Mission Analysis Tool (GMAT), Hughes, Conway, et al. (2017)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8309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5FE73-BF77-2F65-3AB8-C82E56BAB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 Use Case (Phasing Maneuver)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76AB3F-1F26-A9B0-D9D1-9652D3E9759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000" dirty="0"/>
              <a:t>Example problem is (loosely) adapted from </a:t>
            </a:r>
            <a:r>
              <a:rPr lang="en-US" sz="2000" dirty="0">
                <a:hlinkClick r:id="rId2"/>
              </a:rPr>
              <a:t>https://orbital-mechanics.space/orbital-maneuvers/phasing-maneuvers.html</a:t>
            </a:r>
            <a:r>
              <a:rPr lang="en-US" sz="2000" dirty="0"/>
              <a:t> </a:t>
            </a:r>
          </a:p>
          <a:p>
            <a:r>
              <a:rPr lang="en-US" sz="2000" dirty="0"/>
              <a:t>Initial time: March 21, 2028, 12:00:00 UTC</a:t>
            </a:r>
          </a:p>
          <a:p>
            <a:r>
              <a:rPr lang="en-US" sz="2000" dirty="0"/>
              <a:t>Target and Chaser spacecraft are both in circular GEO orbits with ~0 deg inclination</a:t>
            </a:r>
          </a:p>
          <a:p>
            <a:r>
              <a:rPr lang="en-US" sz="2000" dirty="0"/>
              <a:t>Chaser is initially 100 km away from Target spacecraft</a:t>
            </a:r>
          </a:p>
          <a:p>
            <a:r>
              <a:rPr lang="en-US" sz="2000" dirty="0"/>
              <a:t>Chaser is planning to maneuver towards the Target and circularize 10 km away from the Target (standoff distance before proceeding with closer-proximity operations) </a:t>
            </a:r>
          </a:p>
          <a:p>
            <a:r>
              <a:rPr lang="en-US" sz="2000" dirty="0"/>
              <a:t>Target is prograde of chaser initially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F035157-83FC-F667-3568-93E0D002D52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3010002"/>
            <a:ext cx="5181600" cy="198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518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BA0E9-79E8-72DD-A125-7772D646D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Details re: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C53B2-638F-CE36-7828-28AC5F76A97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Target orbital parameters:</a:t>
            </a:r>
          </a:p>
          <a:p>
            <a:pPr lvl="1"/>
            <a:r>
              <a:rPr lang="en-US" dirty="0"/>
              <a:t>Semimajor axis: 42,164.15 km</a:t>
            </a:r>
          </a:p>
          <a:p>
            <a:pPr lvl="1"/>
            <a:r>
              <a:rPr lang="en-US" dirty="0"/>
              <a:t>Eccentricity: 0.0</a:t>
            </a:r>
          </a:p>
          <a:p>
            <a:pPr lvl="1"/>
            <a:r>
              <a:rPr lang="en-US" dirty="0"/>
              <a:t>Inclination: 0.0</a:t>
            </a:r>
          </a:p>
          <a:p>
            <a:pPr lvl="1"/>
            <a:r>
              <a:rPr lang="en-US" dirty="0"/>
              <a:t>Right ascension of ascending node: 0.0</a:t>
            </a:r>
          </a:p>
          <a:p>
            <a:pPr lvl="1"/>
            <a:r>
              <a:rPr lang="en-US" dirty="0"/>
              <a:t>Argument of perigee: 0.0</a:t>
            </a:r>
          </a:p>
          <a:p>
            <a:pPr lvl="1"/>
            <a:r>
              <a:rPr lang="en-US" dirty="0"/>
              <a:t>True anomaly: 0.0</a:t>
            </a:r>
          </a:p>
          <a:p>
            <a:r>
              <a:rPr lang="en-US" dirty="0"/>
              <a:t>Chaser orbit: initially co-planar with Target’s orbit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675D94-7D70-6ED1-4B0B-54F396275F5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Assumptions: </a:t>
            </a:r>
          </a:p>
          <a:p>
            <a:pPr lvl="1"/>
            <a:r>
              <a:rPr lang="en-US" dirty="0"/>
              <a:t>Chaser needs 15 minutes to prepare for a burn maneuver</a:t>
            </a:r>
          </a:p>
          <a:p>
            <a:pPr lvl="1"/>
            <a:r>
              <a:rPr lang="en-US" dirty="0"/>
              <a:t>Want to quickly close the distance, so Chaser will phase after one revolution to close to 10 km</a:t>
            </a:r>
          </a:p>
          <a:p>
            <a:pPr lvl="1"/>
            <a:r>
              <a:rPr lang="en-US" dirty="0"/>
              <a:t>Assuming Target starts with R-vector through ECI X-axis with +Y axis velocity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3970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5571A-DA33-63FF-4016-A7057C5CD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Phasing Orbit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F27DB-EA14-F2FE-39C3-54E991FD597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We want to put the Chaser into a phasing orbit to </a:t>
            </a:r>
            <a:r>
              <a:rPr lang="en-US" i="1" dirty="0"/>
              <a:t>catch up</a:t>
            </a:r>
            <a:r>
              <a:rPr lang="en-US" dirty="0"/>
              <a:t> to the Target</a:t>
            </a:r>
          </a:p>
          <a:p>
            <a:r>
              <a:rPr lang="en-US" dirty="0"/>
              <a:t>Hence, our orbital period for our transfer orbit (Orbit 2 shown right) must be </a:t>
            </a:r>
            <a:r>
              <a:rPr lang="en-US" i="1" dirty="0"/>
              <a:t>shorter</a:t>
            </a:r>
            <a:r>
              <a:rPr lang="en-US" dirty="0"/>
              <a:t> than our final orbit</a:t>
            </a:r>
          </a:p>
          <a:p>
            <a:r>
              <a:rPr lang="en-US" dirty="0"/>
              <a:t>To get from Orbit 1 to Orbit 2, we first need to burn </a:t>
            </a:r>
            <a:r>
              <a:rPr lang="en-US" i="1" dirty="0"/>
              <a:t>retrograde </a:t>
            </a:r>
            <a:r>
              <a:rPr lang="en-US" dirty="0"/>
              <a:t>for Burn1</a:t>
            </a:r>
          </a:p>
          <a:p>
            <a:r>
              <a:rPr lang="en-US" dirty="0"/>
              <a:t>To circularize onto our final orbit, we will burn </a:t>
            </a:r>
            <a:r>
              <a:rPr lang="en-US" i="1" dirty="0"/>
              <a:t>prograde</a:t>
            </a:r>
            <a:r>
              <a:rPr lang="en-US" dirty="0"/>
              <a:t> at the intersection of Orbit 1 and Orbit 2</a:t>
            </a:r>
          </a:p>
          <a:p>
            <a:r>
              <a:rPr lang="en-US" dirty="0"/>
              <a:t>We will model these burns as ideal impulsive maneuvers (lower-fidelity but acceptable for initial mission analysis / trade studies)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A2E3C26-3B86-C02A-CA20-37B395CDC1F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 bwMode="auto">
          <a:xfrm>
            <a:off x="6587331" y="1825625"/>
            <a:ext cx="435133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5ED04C1-DC0E-0212-C9FE-F391EB8B33CF}"/>
              </a:ext>
            </a:extLst>
          </p:cNvPr>
          <p:cNvSpPr txBox="1"/>
          <p:nvPr/>
        </p:nvSpPr>
        <p:spPr>
          <a:xfrm>
            <a:off x="6587332" y="6176963"/>
            <a:ext cx="435133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Image credit: https://orbital-mechanics.space/orbital-maneuvers/phasing-maneuvers.html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B096BA-E798-56AB-CB92-9A0EA31B2A80}"/>
              </a:ext>
            </a:extLst>
          </p:cNvPr>
          <p:cNvSpPr txBox="1"/>
          <p:nvPr/>
        </p:nvSpPr>
        <p:spPr>
          <a:xfrm>
            <a:off x="10938669" y="4318103"/>
            <a:ext cx="833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Burn 1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A0215C6-2E9B-E057-5F5C-38B359F95FEC}"/>
              </a:ext>
            </a:extLst>
          </p:cNvPr>
          <p:cNvCxnSpPr/>
          <p:nvPr/>
        </p:nvCxnSpPr>
        <p:spPr>
          <a:xfrm flipH="1" flipV="1">
            <a:off x="10788203" y="3165386"/>
            <a:ext cx="38637" cy="7684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E8B6557-D827-720B-64D3-FC18F32BDF37}"/>
              </a:ext>
            </a:extLst>
          </p:cNvPr>
          <p:cNvSpPr txBox="1"/>
          <p:nvPr/>
        </p:nvSpPr>
        <p:spPr>
          <a:xfrm>
            <a:off x="10869770" y="3447296"/>
            <a:ext cx="833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Burn 2</a:t>
            </a:r>
          </a:p>
        </p:txBody>
      </p:sp>
    </p:spTree>
    <p:extLst>
      <p:ext uri="{BB962C8B-B14F-4D97-AF65-F5344CB8AC3E}">
        <p14:creationId xmlns:p14="http://schemas.microsoft.com/office/powerpoint/2010/main" val="2655548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AB497-F378-5A18-2B51-0278BCF59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Trigonometry To Help Us</a:t>
            </a: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DC6F8F95-13E0-93AE-598A-C1C75FD5E1CE}"/>
              </a:ext>
            </a:extLst>
          </p:cNvPr>
          <p:cNvSpPr/>
          <p:nvPr/>
        </p:nvSpPr>
        <p:spPr>
          <a:xfrm rot="10800000">
            <a:off x="2858807" y="2893492"/>
            <a:ext cx="1140385" cy="2485623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917329E8-31E6-09E0-A085-759FDFC1F062}"/>
              </a:ext>
            </a:extLst>
          </p:cNvPr>
          <p:cNvSpPr/>
          <p:nvPr/>
        </p:nvSpPr>
        <p:spPr>
          <a:xfrm rot="10800000">
            <a:off x="8514483" y="2893493"/>
            <a:ext cx="497034" cy="2485623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CA993E9-BC56-D55A-55EF-401AA174CFD1}"/>
                  </a:ext>
                </a:extLst>
              </p:cNvPr>
              <p:cNvSpPr txBox="1"/>
              <p:nvPr/>
            </p:nvSpPr>
            <p:spPr>
              <a:xfrm>
                <a:off x="1417322" y="5439350"/>
                <a:ext cx="3711402" cy="8435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𝑖𝑛𝑖𝑡𝑖𝑎𝑙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100 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𝑘𝑚</m:t>
                                          </m:r>
                                        </m:num>
                                        <m:den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42164.15 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𝑘𝑚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CA993E9-BC56-D55A-55EF-401AA174CF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7322" y="5439350"/>
                <a:ext cx="3711402" cy="8435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324B7EA-7462-DC64-544A-59E3FA28FBC5}"/>
              </a:ext>
            </a:extLst>
          </p:cNvPr>
          <p:cNvCxnSpPr/>
          <p:nvPr/>
        </p:nvCxnSpPr>
        <p:spPr>
          <a:xfrm>
            <a:off x="3318534" y="4910904"/>
            <a:ext cx="22092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AB8A140-0432-1ABE-1019-565D4BA27B5E}"/>
              </a:ext>
            </a:extLst>
          </p:cNvPr>
          <p:cNvCxnSpPr/>
          <p:nvPr/>
        </p:nvCxnSpPr>
        <p:spPr>
          <a:xfrm>
            <a:off x="2858806" y="2773885"/>
            <a:ext cx="114038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0EF43A5-2152-56A5-D8AB-0D0EF1B359E2}"/>
              </a:ext>
            </a:extLst>
          </p:cNvPr>
          <p:cNvSpPr txBox="1"/>
          <p:nvPr/>
        </p:nvSpPr>
        <p:spPr>
          <a:xfrm>
            <a:off x="2858806" y="2404553"/>
            <a:ext cx="1140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100 km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B736E58-114A-EB71-BB38-562913328717}"/>
              </a:ext>
            </a:extLst>
          </p:cNvPr>
          <p:cNvCxnSpPr>
            <a:cxnSpLocks/>
          </p:cNvCxnSpPr>
          <p:nvPr/>
        </p:nvCxnSpPr>
        <p:spPr>
          <a:xfrm>
            <a:off x="8493125" y="2826025"/>
            <a:ext cx="53816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0F13545-2309-4E64-A88E-A74D61118426}"/>
              </a:ext>
            </a:extLst>
          </p:cNvPr>
          <p:cNvSpPr txBox="1"/>
          <p:nvPr/>
        </p:nvSpPr>
        <p:spPr>
          <a:xfrm>
            <a:off x="8192808" y="2456693"/>
            <a:ext cx="1140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10 km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8D893B2-B225-8F3A-8889-6FBED320E079}"/>
                  </a:ext>
                </a:extLst>
              </p:cNvPr>
              <p:cNvSpPr txBox="1"/>
              <p:nvPr/>
            </p:nvSpPr>
            <p:spPr>
              <a:xfrm>
                <a:off x="7308044" y="5329387"/>
                <a:ext cx="3466634" cy="8435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𝑓𝑖𝑛𝑎𝑙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10 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𝑘𝑚</m:t>
                                          </m:r>
                                        </m:num>
                                        <m:den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42164.15 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𝑘𝑚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8D893B2-B225-8F3A-8889-6FBED320E0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8044" y="5329387"/>
                <a:ext cx="3466634" cy="8435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B07E506-9913-83D2-2E58-A2C8C23F2634}"/>
              </a:ext>
            </a:extLst>
          </p:cNvPr>
          <p:cNvCxnSpPr>
            <a:cxnSpLocks/>
          </p:cNvCxnSpPr>
          <p:nvPr/>
        </p:nvCxnSpPr>
        <p:spPr>
          <a:xfrm>
            <a:off x="8680450" y="4628091"/>
            <a:ext cx="16033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A717429-DDC0-BCED-5F30-72CF48249DA4}"/>
              </a:ext>
            </a:extLst>
          </p:cNvPr>
          <p:cNvCxnSpPr/>
          <p:nvPr/>
        </p:nvCxnSpPr>
        <p:spPr>
          <a:xfrm>
            <a:off x="2738120" y="2893492"/>
            <a:ext cx="580414" cy="251521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1ABADE88-0F09-8550-A600-28FAF5D3D6B2}"/>
              </a:ext>
            </a:extLst>
          </p:cNvPr>
          <p:cNvSpPr txBox="1"/>
          <p:nvPr/>
        </p:nvSpPr>
        <p:spPr>
          <a:xfrm>
            <a:off x="2107365" y="3827933"/>
            <a:ext cx="8196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42164 km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B095D8A-B1B1-3EC5-1B28-AB639052B48A}"/>
              </a:ext>
            </a:extLst>
          </p:cNvPr>
          <p:cNvSpPr txBox="1"/>
          <p:nvPr/>
        </p:nvSpPr>
        <p:spPr>
          <a:xfrm>
            <a:off x="3940855" y="3813137"/>
            <a:ext cx="8196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42164 km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A75FE1B-7FDB-26D6-1A48-63F8C69BACF8}"/>
              </a:ext>
            </a:extLst>
          </p:cNvPr>
          <p:cNvCxnSpPr>
            <a:cxnSpLocks/>
          </p:cNvCxnSpPr>
          <p:nvPr/>
        </p:nvCxnSpPr>
        <p:spPr>
          <a:xfrm flipV="1">
            <a:off x="3557772" y="2908822"/>
            <a:ext cx="580414" cy="251521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E334AF6-AEB6-89C0-C7D4-39D222210FD1}"/>
              </a:ext>
            </a:extLst>
          </p:cNvPr>
          <p:cNvSpPr txBox="1"/>
          <p:nvPr/>
        </p:nvSpPr>
        <p:spPr>
          <a:xfrm>
            <a:off x="9011517" y="3843263"/>
            <a:ext cx="8196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42164 km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B5E6E25-EB78-25C8-3068-22FC413A1DAB}"/>
              </a:ext>
            </a:extLst>
          </p:cNvPr>
          <p:cNvCxnSpPr>
            <a:cxnSpLocks/>
          </p:cNvCxnSpPr>
          <p:nvPr/>
        </p:nvCxnSpPr>
        <p:spPr>
          <a:xfrm flipV="1">
            <a:off x="8846887" y="2893492"/>
            <a:ext cx="266633" cy="252082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38A3583-61D6-514C-621C-004DF6242008}"/>
              </a:ext>
            </a:extLst>
          </p:cNvPr>
          <p:cNvCxnSpPr>
            <a:cxnSpLocks/>
          </p:cNvCxnSpPr>
          <p:nvPr/>
        </p:nvCxnSpPr>
        <p:spPr>
          <a:xfrm>
            <a:off x="8410767" y="2887883"/>
            <a:ext cx="266633" cy="252082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00A0D964-B6DE-0CBF-C5F4-878B002AEC78}"/>
              </a:ext>
            </a:extLst>
          </p:cNvPr>
          <p:cNvSpPr txBox="1"/>
          <p:nvPr/>
        </p:nvSpPr>
        <p:spPr>
          <a:xfrm>
            <a:off x="7589434" y="3870884"/>
            <a:ext cx="8196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42164 km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6A592AD-0D9F-1E67-3F97-BB7A59F676A2}"/>
              </a:ext>
            </a:extLst>
          </p:cNvPr>
          <p:cNvCxnSpPr>
            <a:stCxn id="5" idx="3"/>
            <a:endCxn id="5" idx="0"/>
          </p:cNvCxnSpPr>
          <p:nvPr/>
        </p:nvCxnSpPr>
        <p:spPr>
          <a:xfrm>
            <a:off x="3428999" y="2893492"/>
            <a:ext cx="0" cy="2485623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475AACE-0514-A81B-8207-62870B7AD7A8}"/>
              </a:ext>
            </a:extLst>
          </p:cNvPr>
          <p:cNvCxnSpPr>
            <a:cxnSpLocks/>
          </p:cNvCxnSpPr>
          <p:nvPr/>
        </p:nvCxnSpPr>
        <p:spPr>
          <a:xfrm>
            <a:off x="8760619" y="2887883"/>
            <a:ext cx="0" cy="2441504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34E582B-17E8-68A4-BEEE-D8FCCEE19FA5}"/>
              </a:ext>
            </a:extLst>
          </p:cNvPr>
          <p:cNvCxnSpPr/>
          <p:nvPr/>
        </p:nvCxnSpPr>
        <p:spPr>
          <a:xfrm flipV="1">
            <a:off x="1874520" y="4910904"/>
            <a:ext cx="1444014" cy="9361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C5748FC-76DC-F9C3-25D5-8B7814221F40}"/>
              </a:ext>
            </a:extLst>
          </p:cNvPr>
          <p:cNvCxnSpPr/>
          <p:nvPr/>
        </p:nvCxnSpPr>
        <p:spPr>
          <a:xfrm flipV="1">
            <a:off x="7990840" y="4628091"/>
            <a:ext cx="686560" cy="11326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85198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E86DB-C885-B4C8-C600-C4DA865ED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Math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AA13CB-84B8-9C20-6639-7F4F4F45A63D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92500"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𝑝h𝑎𝑠𝑖𝑛𝑔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∗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𝐸𝑎𝑟𝑡h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∗2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 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𝑖𝑛𝑖𝑡𝑖𝑎𝑙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𝑓𝑖𝑛𝑎𝑙</m:t>
                            </m:r>
                          </m:sub>
                        </m:sSub>
                      </m:e>
                    </m:d>
                  </m:oMath>
                </a14:m>
                <a:endParaRPr lang="en-US" sz="24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 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𝑝h𝑎𝑠𝑖𝑛𝑔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 </m:t>
                            </m:r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∆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𝑖𝑛𝑖𝑡𝑖𝑎𝑙</m:t>
                                    </m:r>
                                  </m:sub>
                                </m:s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∆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𝑓𝑖𝑛𝑎𝑙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𝐸𝑎𝑟𝑡h</m:t>
                            </m:r>
                          </m:sub>
                        </m:sSub>
                      </m:den>
                    </m:f>
                  </m:oMath>
                </a14:m>
                <a:endParaRPr lang="en-US" sz="2400" dirty="0"/>
              </a:p>
              <a:p>
                <a:pPr lvl="1"/>
                <a:r>
                  <a:rPr lang="en-US" sz="2000" dirty="0"/>
                  <a:t>Ensures desired orbital position rotates around the Earth the same amount as the Chaser travels during one phasing orbit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𝐺𝐸𝑂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𝐸𝑎𝑟𝑡h</m:t>
                            </m:r>
                          </m:sub>
                        </m:sSub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=86164.0905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𝑝h𝑎𝑠𝑖𝑛𝑔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𝑝h𝑎𝑠𝑖𝑛𝑔</m:t>
                                    </m:r>
                                  </m:sub>
                                </m:sSub>
                                <m:rad>
                                  <m:radPr>
                                    <m:degHide m:val="on"/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</m:rad>
                              </m:num>
                              <m:den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den>
                            </m:f>
                          </m:e>
                        </m:d>
                      </m:e>
                      <m:sup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AA13CB-84B8-9C20-6639-7F4F4F45A6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412" t="-1261" r="-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ECED39E-1A84-A037-8D35-1E0CB9041708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sz="2200" dirty="0"/>
                  <a:t>N = number of revolutions of phasing orbit (= 1 for this case)</a:t>
                </a:r>
              </a:p>
              <a:p>
                <a:r>
                  <a:rPr lang="en-US" sz="2200" dirty="0" err="1"/>
                  <a:t>T</a:t>
                </a:r>
                <a:r>
                  <a:rPr lang="en-US" sz="2200" baseline="-25000" dirty="0" err="1"/>
                  <a:t>phasing</a:t>
                </a:r>
                <a:r>
                  <a:rPr lang="en-US" sz="2200" dirty="0"/>
                  <a:t> = orbital period of phasing orbit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𝐸𝑎𝑟𝑡h</m:t>
                        </m:r>
                      </m:sub>
                    </m:sSub>
                  </m:oMath>
                </a14:m>
                <a:r>
                  <a:rPr lang="en-US" sz="2200" dirty="0"/>
                  <a:t>= angular velocity of Earth, also equal to the mean motion of the satellites in circular geostationary orbit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𝐺𝐸𝑂</m:t>
                        </m:r>
                      </m:sub>
                    </m:sSub>
                  </m:oMath>
                </a14:m>
                <a:r>
                  <a:rPr lang="en-US" sz="2200" dirty="0"/>
                  <a:t>= orbital period in geostationary orbit, also equal to length of sidereal day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𝑝h𝑎𝑠𝑖𝑛𝑔</m:t>
                        </m:r>
                      </m:sub>
                    </m:sSub>
                  </m:oMath>
                </a14:m>
                <a:r>
                  <a:rPr lang="en-US" sz="2200" dirty="0"/>
                  <a:t>= semi-major axis of phasing orbit</a:t>
                </a:r>
              </a:p>
              <a:p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2200" dirty="0"/>
                  <a:t>= gravity constant multiplied by Earth’s mass, equal to 398600.4415 km^3/s^2 per the EGM models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ECED39E-1A84-A037-8D35-1E0CB90417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1059" t="-1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50386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6EA39-6A26-DB44-F299-F13935A31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Do?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8F65258-E755-5DA9-9E1E-E2BA208CBCA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820267"/>
            <a:ext cx="5181600" cy="2362053"/>
          </a:xfrm>
          <a:prstGeom prst="rect">
            <a:avLst/>
          </a:prstGeom>
        </p:spPr>
      </p:pic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3B30C15C-DF54-C226-AA0D-116610711D7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 r="49938"/>
          <a:stretch>
            <a:fillRect/>
          </a:stretch>
        </p:blipFill>
        <p:spPr>
          <a:xfrm>
            <a:off x="6172202" y="3065142"/>
            <a:ext cx="5551866" cy="929430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9235A01-DD67-FFAF-0DC6-DC9AC5F2B06C}"/>
              </a:ext>
            </a:extLst>
          </p:cNvPr>
          <p:cNvCxnSpPr>
            <a:cxnSpLocks/>
          </p:cNvCxnSpPr>
          <p:nvPr/>
        </p:nvCxnSpPr>
        <p:spPr>
          <a:xfrm>
            <a:off x="2160494" y="5289176"/>
            <a:ext cx="0" cy="5363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2D34B8B-4FBA-E5D0-26F9-9BB31BC5641B}"/>
              </a:ext>
            </a:extLst>
          </p:cNvPr>
          <p:cNvCxnSpPr/>
          <p:nvPr/>
        </p:nvCxnSpPr>
        <p:spPr>
          <a:xfrm flipH="1">
            <a:off x="188890" y="3773510"/>
            <a:ext cx="43788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63C38CC-DDB7-79FD-A5C8-456A76621B23}"/>
              </a:ext>
            </a:extLst>
          </p:cNvPr>
          <p:cNvSpPr txBox="1"/>
          <p:nvPr/>
        </p:nvSpPr>
        <p:spPr>
          <a:xfrm>
            <a:off x="98738" y="3308376"/>
            <a:ext cx="777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</a:t>
            </a:r>
            <a:r>
              <a:rPr lang="en-US" baseline="-25000" dirty="0"/>
              <a:t>target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C2BC50-EFBD-122D-1B6A-DBFFD3A42EC0}"/>
              </a:ext>
            </a:extLst>
          </p:cNvPr>
          <p:cNvSpPr txBox="1"/>
          <p:nvPr/>
        </p:nvSpPr>
        <p:spPr>
          <a:xfrm>
            <a:off x="2216271" y="5322596"/>
            <a:ext cx="827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Nadir</a:t>
            </a:r>
          </a:p>
        </p:txBody>
      </p:sp>
      <p:pic>
        <p:nvPicPr>
          <p:cNvPr id="18" name="Content Placeholder 16">
            <a:extLst>
              <a:ext uri="{FF2B5EF4-FFF2-40B4-BE49-F238E27FC236}">
                <a16:creationId xmlns:a16="http://schemas.microsoft.com/office/drawing/2014/main" id="{A7E988ED-86BB-FDDB-A8D9-401F28A251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062"/>
          <a:stretch>
            <a:fillRect/>
          </a:stretch>
        </p:blipFill>
        <p:spPr>
          <a:xfrm>
            <a:off x="6172202" y="4001293"/>
            <a:ext cx="5538083" cy="929430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8EEAC61-6C8F-77A4-D953-A9560D3AD57B}"/>
              </a:ext>
            </a:extLst>
          </p:cNvPr>
          <p:cNvCxnSpPr>
            <a:cxnSpLocks/>
          </p:cNvCxnSpPr>
          <p:nvPr/>
        </p:nvCxnSpPr>
        <p:spPr>
          <a:xfrm flipH="1">
            <a:off x="8847786" y="2786130"/>
            <a:ext cx="218941" cy="10560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5BBAA3C-8FCE-E1C8-AEDE-D7592C6C9FE7}"/>
              </a:ext>
            </a:extLst>
          </p:cNvPr>
          <p:cNvSpPr txBox="1"/>
          <p:nvPr/>
        </p:nvSpPr>
        <p:spPr>
          <a:xfrm>
            <a:off x="8568348" y="2139799"/>
            <a:ext cx="1166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Start at 100 km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9219BDE-B7EC-D4E1-F86A-6A6A741EA111}"/>
              </a:ext>
            </a:extLst>
          </p:cNvPr>
          <p:cNvSpPr txBox="1"/>
          <p:nvPr/>
        </p:nvSpPr>
        <p:spPr>
          <a:xfrm>
            <a:off x="10304850" y="2360871"/>
            <a:ext cx="1166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End at ~10 km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77CF14F-A0FE-1589-74C9-28CEE65E0F6E}"/>
              </a:ext>
            </a:extLst>
          </p:cNvPr>
          <p:cNvCxnSpPr>
            <a:cxnSpLocks/>
          </p:cNvCxnSpPr>
          <p:nvPr/>
        </p:nvCxnSpPr>
        <p:spPr>
          <a:xfrm flipH="1">
            <a:off x="10230118" y="2900966"/>
            <a:ext cx="538767" cy="9412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BB261F6-017C-840F-C78E-F51CD351E3D5}"/>
              </a:ext>
            </a:extLst>
          </p:cNvPr>
          <p:cNvSpPr txBox="1"/>
          <p:nvPr/>
        </p:nvSpPr>
        <p:spPr>
          <a:xfrm>
            <a:off x="9975729" y="5453135"/>
            <a:ext cx="17033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Total of 0.73 m/s of delta-V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AF86F1A-4939-A097-2F49-06628E59D059}"/>
              </a:ext>
            </a:extLst>
          </p:cNvPr>
          <p:cNvCxnSpPr>
            <a:cxnSpLocks/>
            <a:stCxn id="26" idx="0"/>
          </p:cNvCxnSpPr>
          <p:nvPr/>
        </p:nvCxnSpPr>
        <p:spPr>
          <a:xfrm flipH="1" flipV="1">
            <a:off x="10569262" y="4930723"/>
            <a:ext cx="258156" cy="5224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" name="Picture 30">
            <a:extLst>
              <a:ext uri="{FF2B5EF4-FFF2-40B4-BE49-F238E27FC236}">
                <a16:creationId xmlns:a16="http://schemas.microsoft.com/office/drawing/2014/main" id="{D01F798A-E5EB-69EF-A60B-B22855B8D0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517866"/>
            <a:ext cx="4640052" cy="1302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0698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D89EA-09CA-E08C-B4DC-8C4077BC6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 Necessary To </a:t>
            </a:r>
            <a:r>
              <a:rPr lang="en-US"/>
              <a:t>Improve Fidelity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87CB458-A3C3-4FEA-F20A-9DD9902D6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Model propulsion system performance using finite burns instead of impulsive maneuvers</a:t>
            </a:r>
          </a:p>
          <a:p>
            <a:r>
              <a:rPr lang="en-US" dirty="0"/>
              <a:t>Ensure propulsion system thrust and specific impulse are modeled according to empirical data</a:t>
            </a:r>
          </a:p>
          <a:p>
            <a:r>
              <a:rPr lang="en-US" dirty="0"/>
              <a:t>Verify additional constraints that may be applicable for CONOPS (power system performance in and out of eclipse, attitude constraints / pointing performance, time required for TTC ground links / crosslinks / etc.)</a:t>
            </a:r>
          </a:p>
          <a:p>
            <a:r>
              <a:rPr lang="en-US" dirty="0"/>
              <a:t>Verify other CONOPS-related use cases / scenarios, e.g. maneuver aborts, hardware failures, flight / ground anomalies</a:t>
            </a:r>
          </a:p>
        </p:txBody>
      </p:sp>
    </p:spTree>
    <p:extLst>
      <p:ext uri="{BB962C8B-B14F-4D97-AF65-F5344CB8AC3E}">
        <p14:creationId xmlns:p14="http://schemas.microsoft.com/office/powerpoint/2010/main" val="32387333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433</TotalTime>
  <Words>670</Words>
  <Application>Microsoft Office PowerPoint</Application>
  <PresentationFormat>Widescreen</PresentationFormat>
  <Paragraphs>71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Cambria Math</vt:lpstr>
      <vt:lpstr>Office Theme</vt:lpstr>
      <vt:lpstr>A Brief Intro To GMAT: Impulsive and Finite Burn Planning</vt:lpstr>
      <vt:lpstr>GMAT At a Glance</vt:lpstr>
      <vt:lpstr>An Example Use Case (Phasing Maneuver)</vt:lpstr>
      <vt:lpstr>More Details re: Setup</vt:lpstr>
      <vt:lpstr>Phasing Orbit</vt:lpstr>
      <vt:lpstr>Some Trigonometry To Help Us</vt:lpstr>
      <vt:lpstr>More Math</vt:lpstr>
      <vt:lpstr>How Do We Do?</vt:lpstr>
      <vt:lpstr>Next Steps Necessary To Improve Fidelity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 Johnson</dc:creator>
  <cp:lastModifiedBy>Alex Johnson</cp:lastModifiedBy>
  <cp:revision>7</cp:revision>
  <dcterms:created xsi:type="dcterms:W3CDTF">2026-05-13T02:37:38Z</dcterms:created>
  <dcterms:modified xsi:type="dcterms:W3CDTF">2026-05-15T01:56:09Z</dcterms:modified>
</cp:coreProperties>
</file>