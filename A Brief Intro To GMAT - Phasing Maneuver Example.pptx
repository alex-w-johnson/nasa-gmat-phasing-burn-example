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712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91D20D-C4E2-4D60-A335-1BEC39CE9D3B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EA1DC-C819-4131-BAF6-299AB9AFB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540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EA1DC-C819-4131-BAF6-299AB9AFB4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0086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BD498-7486-A67D-42AD-44CF3A55A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1BC53-2F51-86B6-5B8D-6F687101F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CB0F6-8EE5-A929-1355-CDB62C599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91CE4A-ED06-7C29-167E-10604750A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40C45-FCBF-5E3E-82E0-E086B0D04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5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3141B-6849-4D53-827A-120EA26E5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F4220-4596-3BD3-38B5-60D93FF89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1F1EB-9CD3-C9F1-C433-1079B3FCE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D5579D-A741-D204-8929-985F2BD3C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374CF-B4AD-FBF0-7204-8BBE4D03F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409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91249-4CAA-8E57-8D88-DEB6E275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8AFAC-889C-9E81-798B-B2EB6B887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20174A-7C0C-055D-A9C6-6D16061B8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519E8-12CD-4869-34A8-1A84F346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DAAC7-D0A8-8CD0-AA84-970308F2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38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36CDD-FEA9-7BA4-82C9-EFDB8C1D2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312EF-E1D6-00CD-BE4F-CE0DCAEC2F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A38EE3-60EE-CF90-97E3-14C2E15DA0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DF35E-57D1-31C8-928C-C55DA2C22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0F3E78-7968-CE92-FFDF-920AFE02E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B174E-9BFC-214C-A753-346549B16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62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F800-BD3F-ECCD-9AE0-4404BDA46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10DE8-11CD-8130-C0E5-E3B8523A2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9D6B4-650D-FF8A-4F77-A922D2F7B8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EA73C1-0859-2708-C6D0-1CF9A2F84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F53F3F-A65C-6B17-0727-325F82172D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69A3D9-2B30-A666-BD3E-1D788A6B3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64256-C2DF-F752-E9F0-FE0036D46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7A41FB-EB7A-AE9C-4DAD-6639D169E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479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C2BCF-AEA2-50A7-9994-DD6E73D3E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CE5A74-8B17-336F-C060-D34097970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709AD-D9E9-DAF6-6434-05285CB80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F18ACC-5193-EAB0-A232-8C2F2BB9D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39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71868-E181-9237-7295-5B5B6E868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3BF059-3709-7244-081C-FFAA72A9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72BB4-BA32-62FA-B7DE-A4E74E8C2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801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1D300-4E38-8D6D-15D1-E5659B0B0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02B2B-3F93-13BE-3D7F-1ACB2EFE4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802F54-70F6-17EE-9EC2-7F36AE9EB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47CC2-36DD-CF4C-EA2D-E93571DA3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DB848C-2F0C-5597-EAB5-A564FF81A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DB1797-7E9E-059C-5586-62871E4C5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758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B4146-ADDE-3EAE-2AA5-82BDD22F9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0A56D4-1628-6DDC-2692-499CE0930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223FBC-D39F-2FEA-967F-709F01E3A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041E1D-E35C-423C-B9E1-A1F4DE1B4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667122-3BA6-A9C5-80AD-67F7E8D43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25F813-8AA2-B9A2-F97B-F96697739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3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501D9-13C6-7BF9-2949-B9C77B26C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3F3D9F-82E2-2117-DB98-307A9A637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BEAD1B-1672-75C1-CDB3-C9D5E8ABB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705B09-807D-75DB-815B-CB0DE8D3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70811-3D86-377F-11E2-332200325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22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D12DF7-C359-2C05-D5BA-1ABFAE6F0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2B5260-B7FE-F79A-6B5E-BCFBA830CC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08887-2D11-3558-8C32-6E045ED27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18929-1C34-216C-EDA8-18BDACE8B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F8B7A-190E-7CBC-1660-527681AC3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27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906C08-3E40-C979-3C13-14C6A65BE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844B0-B2AE-A6F0-42F4-B329D17B8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77D92-DB9C-B1B7-CE7F-A34F99192B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0FAA0D-FEED-4950-B1C4-DEC1AD7E6420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8DA90-A601-9043-FAF1-20A90E506C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8444BA-CD62-99FC-4FE5-9BF6EBCFD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735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ntrs.nasa.gov/api/citations/20170001580/downloads/20170001580.pdf" TargetMode="External"/><Relationship Id="rId2" Type="http://schemas.openxmlformats.org/officeDocument/2006/relationships/hyperlink" Target="https://sourceforge.net/projects/gmat/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ntrs.nasa.gov/citations/20170001580" TargetMode="Externa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orbital-mechanics.space/orbital-maneuvers/phasing-maneuvers.html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794B9-194F-D380-C1C8-B0FF03EAD5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Brief Intro To GMAT: </a:t>
            </a:r>
            <a:r>
              <a:rPr lang="en-US" sz="4800" dirty="0"/>
              <a:t>Impulsive and Finite Burn Planning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01951C-03FA-C147-2CF7-D168DFB4B8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45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F9D2-CC50-C804-86B4-BA3C35AD7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GMAT At a Glance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661A2-35F9-CF92-80EC-B8700CBE86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Link: </a:t>
            </a:r>
            <a:r>
              <a:rPr lang="en-US" sz="2000" dirty="0">
                <a:hlinkClick r:id="rId2"/>
              </a:rPr>
              <a:t>https://sourceforge.net/projects/gmat/</a:t>
            </a:r>
            <a:r>
              <a:rPr lang="en-US" sz="2000" dirty="0"/>
              <a:t> </a:t>
            </a:r>
          </a:p>
          <a:p>
            <a:r>
              <a:rPr lang="en-US" sz="2000" dirty="0"/>
              <a:t>Open-source space mission design and simulation software</a:t>
            </a:r>
          </a:p>
          <a:p>
            <a:r>
              <a:rPr lang="en-US" sz="2000" dirty="0"/>
              <a:t>Written / maintained by NASA GSFC</a:t>
            </a:r>
          </a:p>
          <a:p>
            <a:r>
              <a:rPr lang="en-US" sz="2000" dirty="0"/>
              <a:t>Used to support </a:t>
            </a:r>
            <a:r>
              <a:rPr lang="en-US" sz="2000" dirty="0">
                <a:hlinkClick r:id="rId3"/>
              </a:rPr>
              <a:t>TESS mission design CDR</a:t>
            </a:r>
            <a:endParaRPr lang="en-US" sz="2000" dirty="0"/>
          </a:p>
          <a:p>
            <a:r>
              <a:rPr lang="en-US" sz="2000" dirty="0"/>
              <a:t>Under development since 2002 (design started), released 2013</a:t>
            </a:r>
          </a:p>
          <a:p>
            <a:r>
              <a:rPr lang="en-US" sz="2000" dirty="0"/>
              <a:t>Similar (but not identical) capabilities for space mission design as other industry-standard tools e.g. </a:t>
            </a:r>
            <a:r>
              <a:rPr lang="en-US" sz="2000" dirty="0" err="1"/>
              <a:t>Freeflyer</a:t>
            </a:r>
            <a:r>
              <a:rPr lang="en-US" sz="2000" dirty="0"/>
              <a:t>, STK, etc.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0483E63-9F30-E2C9-5801-F172DCF1AD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172202" y="1825625"/>
            <a:ext cx="5181600" cy="38740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C47ACB-0F9D-0FDD-C859-AD5D647F9B61}"/>
              </a:ext>
            </a:extLst>
          </p:cNvPr>
          <p:cNvSpPr txBox="1"/>
          <p:nvPr/>
        </p:nvSpPr>
        <p:spPr>
          <a:xfrm>
            <a:off x="6172200" y="5640636"/>
            <a:ext cx="518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source: </a:t>
            </a:r>
            <a:r>
              <a:rPr lang="en-US" u="sng" dirty="0">
                <a:hlinkClick r:id="rId5"/>
              </a:rPr>
              <a:t>Using the General Mission Analysis Tool (GMAT), Hughes, Conway, et al. (2017)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309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5FE73-BF77-2F65-3AB8-C82E56BAB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Use Case (Phasing Maneuver)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6AB3F-1F26-A9B0-D9D1-9652D3E9759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000" dirty="0"/>
              <a:t>Example problem is adapted from </a:t>
            </a:r>
            <a:r>
              <a:rPr lang="en-US" sz="2000" dirty="0">
                <a:hlinkClick r:id="rId2"/>
              </a:rPr>
              <a:t>https://orbital-mechanics.space/orbital-maneuvers/phasing-maneuvers.html</a:t>
            </a:r>
            <a:r>
              <a:rPr lang="en-US" sz="2000" dirty="0"/>
              <a:t> </a:t>
            </a:r>
          </a:p>
          <a:p>
            <a:r>
              <a:rPr lang="en-US" sz="2000" dirty="0"/>
              <a:t>Initial time: March 21, 2028, 12:00:00 UTC</a:t>
            </a:r>
          </a:p>
          <a:p>
            <a:r>
              <a:rPr lang="en-US" sz="2000" dirty="0"/>
              <a:t>Final time: March 23, 2028, 12:00:00 UTC</a:t>
            </a:r>
          </a:p>
          <a:p>
            <a:r>
              <a:rPr lang="en-US" sz="2000" dirty="0"/>
              <a:t>Target and Chaser spacecraft are both in circular GEO orbits with ~0 deg inclination</a:t>
            </a:r>
          </a:p>
          <a:p>
            <a:r>
              <a:rPr lang="en-US" sz="2000" dirty="0"/>
              <a:t>Chaser is initially 100 km away from Target spacecraft</a:t>
            </a:r>
          </a:p>
          <a:p>
            <a:r>
              <a:rPr lang="en-US" sz="2000" dirty="0"/>
              <a:t>Chaser is planning to maneuver towards the Target and circularize 10 km away from the Target (standoff distance before proceeding with closer-proximity operations) </a:t>
            </a:r>
          </a:p>
          <a:p>
            <a:r>
              <a:rPr lang="en-US" sz="2000" dirty="0"/>
              <a:t>Target is prograde of chaser initially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F035157-83FC-F667-3568-93E0D002D5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3010002"/>
            <a:ext cx="5181600" cy="198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518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BA0E9-79E8-72DD-A125-7772D646D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details re: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C53B2-638F-CE36-7828-28AC5F76A9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Target orbital parameters:</a:t>
            </a:r>
          </a:p>
          <a:p>
            <a:pPr lvl="1"/>
            <a:r>
              <a:rPr lang="en-US" dirty="0"/>
              <a:t>Semimajor axis: 42,164.15 km</a:t>
            </a:r>
          </a:p>
          <a:p>
            <a:pPr lvl="1"/>
            <a:r>
              <a:rPr lang="en-US" dirty="0"/>
              <a:t>Eccentricity: 0.0</a:t>
            </a:r>
          </a:p>
          <a:p>
            <a:pPr lvl="1"/>
            <a:r>
              <a:rPr lang="en-US" dirty="0"/>
              <a:t>Inclination: 0.0</a:t>
            </a:r>
          </a:p>
          <a:p>
            <a:pPr lvl="1"/>
            <a:r>
              <a:rPr lang="en-US" dirty="0"/>
              <a:t>Right ascension of ascending node: 0.0</a:t>
            </a:r>
          </a:p>
          <a:p>
            <a:pPr lvl="1"/>
            <a:r>
              <a:rPr lang="en-US" dirty="0"/>
              <a:t>Argument of perigee: 0.0</a:t>
            </a:r>
          </a:p>
          <a:p>
            <a:pPr lvl="1"/>
            <a:r>
              <a:rPr lang="en-US" dirty="0"/>
              <a:t>True anomaly: 0.0</a:t>
            </a:r>
          </a:p>
          <a:p>
            <a:r>
              <a:rPr lang="en-US" dirty="0"/>
              <a:t>Assuming we need 15 minutes to prepare for burn maneuvers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75D94-7D70-6ED1-4B0B-54F396275F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397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AB497-F378-5A18-2B51-0278BCF59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trigonometry to help us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DC6F8F95-13E0-93AE-598A-C1C75FD5E1CE}"/>
              </a:ext>
            </a:extLst>
          </p:cNvPr>
          <p:cNvSpPr/>
          <p:nvPr/>
        </p:nvSpPr>
        <p:spPr>
          <a:xfrm rot="10800000">
            <a:off x="2858807" y="2893492"/>
            <a:ext cx="1140385" cy="2485623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917329E8-31E6-09E0-A085-759FDFC1F062}"/>
              </a:ext>
            </a:extLst>
          </p:cNvPr>
          <p:cNvSpPr/>
          <p:nvPr/>
        </p:nvSpPr>
        <p:spPr>
          <a:xfrm rot="10800000">
            <a:off x="8514483" y="2893493"/>
            <a:ext cx="497034" cy="2485623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CA993E9-BC56-D55A-55EF-401AA174CFD1}"/>
                  </a:ext>
                </a:extLst>
              </p:cNvPr>
              <p:cNvSpPr txBox="1"/>
              <p:nvPr/>
            </p:nvSpPr>
            <p:spPr>
              <a:xfrm>
                <a:off x="1417322" y="5439350"/>
                <a:ext cx="3711402" cy="8435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𝑖𝑛𝑖𝑡𝑖𝑎𝑙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100 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𝑘𝑚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42164.15 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𝑘𝑚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CA993E9-BC56-D55A-55EF-401AA174C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322" y="5439350"/>
                <a:ext cx="3711402" cy="8435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324B7EA-7462-DC64-544A-59E3FA28FBC5}"/>
              </a:ext>
            </a:extLst>
          </p:cNvPr>
          <p:cNvCxnSpPr/>
          <p:nvPr/>
        </p:nvCxnSpPr>
        <p:spPr>
          <a:xfrm>
            <a:off x="3318534" y="4910904"/>
            <a:ext cx="22092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AB8A140-0432-1ABE-1019-565D4BA27B5E}"/>
              </a:ext>
            </a:extLst>
          </p:cNvPr>
          <p:cNvCxnSpPr/>
          <p:nvPr/>
        </p:nvCxnSpPr>
        <p:spPr>
          <a:xfrm>
            <a:off x="2858806" y="2773885"/>
            <a:ext cx="114038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EF43A5-2152-56A5-D8AB-0D0EF1B359E2}"/>
              </a:ext>
            </a:extLst>
          </p:cNvPr>
          <p:cNvSpPr txBox="1"/>
          <p:nvPr/>
        </p:nvSpPr>
        <p:spPr>
          <a:xfrm>
            <a:off x="2858806" y="2404553"/>
            <a:ext cx="1140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100 km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B736E58-114A-EB71-BB38-562913328717}"/>
              </a:ext>
            </a:extLst>
          </p:cNvPr>
          <p:cNvCxnSpPr>
            <a:cxnSpLocks/>
          </p:cNvCxnSpPr>
          <p:nvPr/>
        </p:nvCxnSpPr>
        <p:spPr>
          <a:xfrm>
            <a:off x="8493125" y="2826025"/>
            <a:ext cx="53816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0F13545-2309-4E64-A88E-A74D61118426}"/>
              </a:ext>
            </a:extLst>
          </p:cNvPr>
          <p:cNvSpPr txBox="1"/>
          <p:nvPr/>
        </p:nvSpPr>
        <p:spPr>
          <a:xfrm>
            <a:off x="8192808" y="2456693"/>
            <a:ext cx="1140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 km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8D893B2-B225-8F3A-8889-6FBED320E079}"/>
                  </a:ext>
                </a:extLst>
              </p:cNvPr>
              <p:cNvSpPr txBox="1"/>
              <p:nvPr/>
            </p:nvSpPr>
            <p:spPr>
              <a:xfrm>
                <a:off x="7308044" y="5329387"/>
                <a:ext cx="3466634" cy="8435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𝑓𝑖𝑛𝑎𝑙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10 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𝑘𝑚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42164.15 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𝑘𝑚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8D893B2-B225-8F3A-8889-6FBED320E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8044" y="5329387"/>
                <a:ext cx="3466634" cy="8435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B07E506-9913-83D2-2E58-A2C8C23F2634}"/>
              </a:ext>
            </a:extLst>
          </p:cNvPr>
          <p:cNvCxnSpPr>
            <a:cxnSpLocks/>
          </p:cNvCxnSpPr>
          <p:nvPr/>
        </p:nvCxnSpPr>
        <p:spPr>
          <a:xfrm>
            <a:off x="8680450" y="4628091"/>
            <a:ext cx="1603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A717429-DDC0-BCED-5F30-72CF48249DA4}"/>
              </a:ext>
            </a:extLst>
          </p:cNvPr>
          <p:cNvCxnSpPr/>
          <p:nvPr/>
        </p:nvCxnSpPr>
        <p:spPr>
          <a:xfrm>
            <a:off x="2738120" y="2893492"/>
            <a:ext cx="580414" cy="25152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ABADE88-0F09-8550-A600-28FAF5D3D6B2}"/>
              </a:ext>
            </a:extLst>
          </p:cNvPr>
          <p:cNvSpPr txBox="1"/>
          <p:nvPr/>
        </p:nvSpPr>
        <p:spPr>
          <a:xfrm>
            <a:off x="2107365" y="3827933"/>
            <a:ext cx="819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42164 km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095D8A-B1B1-3EC5-1B28-AB639052B48A}"/>
              </a:ext>
            </a:extLst>
          </p:cNvPr>
          <p:cNvSpPr txBox="1"/>
          <p:nvPr/>
        </p:nvSpPr>
        <p:spPr>
          <a:xfrm>
            <a:off x="3940855" y="3813137"/>
            <a:ext cx="819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42164 km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75FE1B-7FDB-26D6-1A48-63F8C69BACF8}"/>
              </a:ext>
            </a:extLst>
          </p:cNvPr>
          <p:cNvCxnSpPr>
            <a:cxnSpLocks/>
          </p:cNvCxnSpPr>
          <p:nvPr/>
        </p:nvCxnSpPr>
        <p:spPr>
          <a:xfrm flipV="1">
            <a:off x="3557772" y="2908822"/>
            <a:ext cx="580414" cy="25152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334AF6-AEB6-89C0-C7D4-39D222210FD1}"/>
              </a:ext>
            </a:extLst>
          </p:cNvPr>
          <p:cNvSpPr txBox="1"/>
          <p:nvPr/>
        </p:nvSpPr>
        <p:spPr>
          <a:xfrm>
            <a:off x="9011517" y="3843263"/>
            <a:ext cx="819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42164 km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B5E6E25-EB78-25C8-3068-22FC413A1DAB}"/>
              </a:ext>
            </a:extLst>
          </p:cNvPr>
          <p:cNvCxnSpPr>
            <a:cxnSpLocks/>
          </p:cNvCxnSpPr>
          <p:nvPr/>
        </p:nvCxnSpPr>
        <p:spPr>
          <a:xfrm flipV="1">
            <a:off x="8846887" y="2893492"/>
            <a:ext cx="266633" cy="25208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38A3583-61D6-514C-621C-004DF6242008}"/>
              </a:ext>
            </a:extLst>
          </p:cNvPr>
          <p:cNvCxnSpPr>
            <a:cxnSpLocks/>
          </p:cNvCxnSpPr>
          <p:nvPr/>
        </p:nvCxnSpPr>
        <p:spPr>
          <a:xfrm>
            <a:off x="8410767" y="2887883"/>
            <a:ext cx="266633" cy="25208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A0D964-B6DE-0CBF-C5F4-878B002AEC78}"/>
              </a:ext>
            </a:extLst>
          </p:cNvPr>
          <p:cNvSpPr txBox="1"/>
          <p:nvPr/>
        </p:nvSpPr>
        <p:spPr>
          <a:xfrm>
            <a:off x="7589434" y="3870884"/>
            <a:ext cx="819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42164 km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A592AD-0D9F-1E67-3F97-BB7A59F676A2}"/>
              </a:ext>
            </a:extLst>
          </p:cNvPr>
          <p:cNvCxnSpPr>
            <a:stCxn id="5" idx="3"/>
            <a:endCxn id="5" idx="0"/>
          </p:cNvCxnSpPr>
          <p:nvPr/>
        </p:nvCxnSpPr>
        <p:spPr>
          <a:xfrm>
            <a:off x="3428999" y="2893492"/>
            <a:ext cx="0" cy="2485623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475AACE-0514-A81B-8207-62870B7AD7A8}"/>
              </a:ext>
            </a:extLst>
          </p:cNvPr>
          <p:cNvCxnSpPr>
            <a:cxnSpLocks/>
          </p:cNvCxnSpPr>
          <p:nvPr/>
        </p:nvCxnSpPr>
        <p:spPr>
          <a:xfrm>
            <a:off x="8760619" y="2887883"/>
            <a:ext cx="0" cy="244150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34E582B-17E8-68A4-BEEE-D8FCCEE19FA5}"/>
              </a:ext>
            </a:extLst>
          </p:cNvPr>
          <p:cNvCxnSpPr/>
          <p:nvPr/>
        </p:nvCxnSpPr>
        <p:spPr>
          <a:xfrm flipV="1">
            <a:off x="1874520" y="4910904"/>
            <a:ext cx="1444014" cy="9361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5748FC-76DC-F9C3-25D5-8B7814221F40}"/>
              </a:ext>
            </a:extLst>
          </p:cNvPr>
          <p:cNvCxnSpPr/>
          <p:nvPr/>
        </p:nvCxnSpPr>
        <p:spPr>
          <a:xfrm flipV="1">
            <a:off x="7990840" y="4628091"/>
            <a:ext cx="686560" cy="1132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8519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275</Words>
  <Application>Microsoft Office PowerPoint</Application>
  <PresentationFormat>Widescreen</PresentationFormat>
  <Paragraphs>36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A Brief Intro To GMAT: Impulsive and Finite Burn Planning</vt:lpstr>
      <vt:lpstr>GMAT At a Glance</vt:lpstr>
      <vt:lpstr>An Example Use Case (Phasing Maneuver)</vt:lpstr>
      <vt:lpstr>More details re: setup</vt:lpstr>
      <vt:lpstr>Some trigonometry to help 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Johnson</dc:creator>
  <cp:lastModifiedBy>Alex Johnson</cp:lastModifiedBy>
  <cp:revision>3</cp:revision>
  <dcterms:created xsi:type="dcterms:W3CDTF">2026-05-13T02:37:38Z</dcterms:created>
  <dcterms:modified xsi:type="dcterms:W3CDTF">2026-05-14T00:41:49Z</dcterms:modified>
</cp:coreProperties>
</file>